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726" autoAdjust="0"/>
  </p:normalViewPr>
  <p:slideViewPr>
    <p:cSldViewPr snapToGrid="0" snapToObjects="1">
      <p:cViewPr>
        <p:scale>
          <a:sx n="145" d="100"/>
          <a:sy n="145" d="100"/>
        </p:scale>
        <p:origin x="1216" y="42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Final LLM Chatbot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br/>
            <a:br/>
            <a:r>
              <a:t>Design, Scope, Challenges, Learnings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February 20,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Problem Addressed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General-purpose chatbots can sound fluent but still hallucinate.</a:t>
            </a:r>
          </a:p>
          <a:p>
            <a:pPr lvl="0"/>
            <a:r>
              <a:t>Academic/project users need grounded answers with transparent sources.</a:t>
            </a:r>
          </a:p>
          <a:p>
            <a:pPr lvl="0"/>
            <a:r>
              <a:t>The project targets a bilingual assistant: English input, Spanish-first output.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Scope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Build a working chatbot with web UI + API backend.</a:t>
            </a:r>
          </a:p>
          <a:p>
            <a:pPr lvl="0"/>
            <a:r>
              <a:t>Route intelligently between grounded retrieval and general LLM response.</a:t>
            </a:r>
          </a:p>
          <a:p>
            <a:pPr lvl="0"/>
            <a:r>
              <a:t>Provide Spanish output with optional English for transparency.</a:t>
            </a:r>
          </a:p>
          <a:p>
            <a:pPr lvl="0"/>
            <a:r>
              <a:t>Support fallback responses when confidence is low.</a:t>
            </a:r>
          </a:p>
          <a:p>
            <a:pPr lvl="0"/>
            <a:r>
              <a:t>Keep architecture modular for future extension.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System Design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Frontend: React chat interface (message thread + loading state).</a:t>
            </a:r>
          </a:p>
          <a:p>
            <a:pPr lvl="0"/>
            <a:r>
              <a:t>Backend: FastAPI with MVC-style layers (controllers/services/repositories/models).</a:t>
            </a:r>
          </a:p>
          <a:p>
            <a:pPr lvl="0"/>
            <a:r>
              <a:t>Retrieval: SentenceTransformer (preferred) with TF-IDF fallback.</a:t>
            </a:r>
          </a:p>
          <a:p>
            <a:pPr lvl="0"/>
            <a:r>
              <a:t>Generation: Azure OpenAI for RAG completion, general QA, and translation when configured.</a:t>
            </a:r>
          </a:p>
        </p:txBody>
      </p:sp>
      <p:sp>
        <p:nvSpPr>
          <p:cNvPr id="5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ACDDA0-5072-EC40-2BDC-B93AB0CCB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653" y="640556"/>
            <a:ext cx="4287189" cy="34698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App Screenshot: Chat Experience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Sequential conversation flow in a messaging layout.</a:t>
            </a:r>
          </a:p>
          <a:p>
            <a:pPr lvl="0"/>
            <a:r>
              <a:t>User prompt + assistant bilingual response.</a:t>
            </a:r>
          </a:p>
          <a:p>
            <a:pPr lvl="0"/>
            <a:r>
              <a:t>Include-English toggle for response transparency.</a:t>
            </a:r>
          </a:p>
        </p:txBody>
      </p:sp>
      <p:sp>
        <p:nvSpPr>
          <p:cNvPr id="5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Chat UI</a:t>
            </a:r>
          </a:p>
        </p:txBody>
      </p:sp>
      <p:pic>
        <p:nvPicPr>
          <p:cNvPr id="7" name="Picture 6" descr="A screenshot of a chatbot&#10;&#10;AI-generated content may be incorrect.">
            <a:extLst>
              <a:ext uri="{FF2B5EF4-FFF2-40B4-BE49-F238E27FC236}">
                <a16:creationId xmlns:a16="http://schemas.microsoft.com/office/drawing/2014/main" id="{C578AE87-ABC9-771E-99FA-902C29C22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483" y="421419"/>
            <a:ext cx="3089833" cy="33725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App Screenshot: Response Payload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API route: </a:t>
            </a:r>
            <a:r>
              <a:rPr>
                <a:latin typeface="Courier"/>
              </a:rPr>
              <a:t>POST /api/translate</a:t>
            </a:r>
          </a:p>
          <a:p>
            <a:pPr lvl="0"/>
            <a:r>
              <a:t>Request: </a:t>
            </a:r>
            <a:r>
              <a:rPr>
                <a:latin typeface="Courier"/>
              </a:rPr>
              <a:t>{ text, include_english }</a:t>
            </a:r>
          </a:p>
          <a:p>
            <a:pPr lvl="0"/>
            <a:r>
              <a:t>Response: </a:t>
            </a:r>
            <a:r>
              <a:rPr>
                <a:latin typeface="Courier"/>
              </a:rPr>
              <a:t>{ spanish, english }</a:t>
            </a:r>
            <a:r>
              <a:t> (english optional)</a:t>
            </a:r>
          </a:p>
        </p:txBody>
      </p:sp>
      <p:sp>
        <p:nvSpPr>
          <p:cNvPr id="5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API Response</a:t>
            </a:r>
          </a:p>
        </p:txBody>
      </p:sp>
      <p:pic>
        <p:nvPicPr>
          <p:cNvPr id="11" name="Picture 10" descr="A screenshot of a video&#10;&#10;AI-generated content may be incorrect.">
            <a:extLst>
              <a:ext uri="{FF2B5EF4-FFF2-40B4-BE49-F238E27FC236}">
                <a16:creationId xmlns:a16="http://schemas.microsoft.com/office/drawing/2014/main" id="{CE0D2098-8B7F-B423-FB5F-ED3105D56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153" y="207863"/>
            <a:ext cx="5144583" cy="2201722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66F506-31A6-192A-4A4E-291973C3C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153" y="1265706"/>
            <a:ext cx="5144583" cy="26120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Approach from Proposal to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Proposal goal: RAG-based bilingual assistant with citations.</a:t>
            </a:r>
          </a:p>
          <a:p>
            <a:pPr lvl="0"/>
            <a:r>
              <a:t>Implemented practical hybrid strategy:</a:t>
            </a:r>
          </a:p>
          <a:p>
            <a:pPr lvl="1"/>
            <a:r>
              <a:t>Rule-based first</a:t>
            </a:r>
          </a:p>
          <a:p>
            <a:pPr lvl="1"/>
            <a:r>
              <a:t>Retrieval relevance check second</a:t>
            </a:r>
          </a:p>
          <a:p>
            <a:pPr lvl="1"/>
            <a:r>
              <a:t>RAG path for in-domain queries; general LLM path for out-of-domain queries</a:t>
            </a:r>
          </a:p>
          <a:p>
            <a:pPr lvl="0"/>
            <a:r>
              <a:t>Reason: better reliability, lower cost/latency, graceful degradation.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Challenges Encountered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Environment/dependency availability varied by runtime.</a:t>
            </a:r>
          </a:p>
          <a:p>
            <a:pPr lvl="0"/>
            <a:r>
              <a:t>Retrieval tuning required trial-and-error (chunk size, similarity thresholds).</a:t>
            </a:r>
          </a:p>
          <a:p>
            <a:pPr lvl="0"/>
            <a:r>
              <a:t>Maintaining concise bilingual quality required prompt calibration.</a:t>
            </a:r>
          </a:p>
          <a:p>
            <a:pPr lvl="0"/>
            <a:r>
              <a:t>Coverage limitations in knowledge base can still produce uncertainty.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Hybrid architecture outperforms pure-LLM in reliability for scoped domains.</a:t>
            </a:r>
          </a:p>
          <a:p>
            <a:pPr lvl="0"/>
            <a:r>
              <a:t>Clean layer separation improves maintainability and debugging speed.</a:t>
            </a:r>
          </a:p>
          <a:p>
            <a:pPr lvl="0"/>
            <a:r>
              <a:t>RAG quality depends heavily on data chunking and retrieval thresholds.</a:t>
            </a:r>
          </a:p>
          <a:p>
            <a:pPr lvl="0"/>
            <a:r>
              <a:t>Fallback behavior is critical for user trust.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Conclusion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Final chatbot now supports both grounded RAG answers and general LLM Q&amp;A.</a:t>
            </a:r>
          </a:p>
          <a:p>
            <a:pPr lvl="0"/>
            <a:r>
              <a:t>Future upgrades:</a:t>
            </a:r>
          </a:p>
          <a:p>
            <a:pPr lvl="1"/>
            <a:r>
              <a:t>Session memory for multi-turn continuity</a:t>
            </a:r>
          </a:p>
          <a:p>
            <a:pPr lvl="1"/>
            <a:r>
              <a:t>Better observability and evaluation metrics</a:t>
            </a:r>
          </a:p>
          <a:p>
            <a:pPr lvl="1"/>
            <a:r>
              <a:t>Expanded multilingual and guardrail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</Words>
  <Application>Microsoft Macintosh PowerPoint</Application>
  <PresentationFormat>On-screen Show (16:9)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</vt:lpstr>
      <vt:lpstr>Office Theme</vt:lpstr>
      <vt:lpstr>Final LLM Chatbot Project</vt:lpstr>
      <vt:lpstr>Problem Addressed</vt:lpstr>
      <vt:lpstr>Scope and Objectives</vt:lpstr>
      <vt:lpstr>System Design</vt:lpstr>
      <vt:lpstr>App Screenshot: Chat Experience</vt:lpstr>
      <vt:lpstr>App Screenshot: Response Payload</vt:lpstr>
      <vt:lpstr>Approach from Proposal to Build</vt:lpstr>
      <vt:lpstr>Challenges Encountered</vt:lpstr>
      <vt:lpstr>Key Learnings</vt:lpstr>
      <vt:lpstr>Conclusion and Next Steps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LLM Chatbot Project</dc:title>
  <dc:creator>Design, Scope, Challenges, Learnings</dc:creator>
  <cp:keywords/>
  <cp:lastModifiedBy>Mayank Dave</cp:lastModifiedBy>
  <cp:revision>1</cp:revision>
  <dcterms:created xsi:type="dcterms:W3CDTF">2026-02-20T02:20:14Z</dcterms:created>
  <dcterms:modified xsi:type="dcterms:W3CDTF">2026-02-20T05:22:14Z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February 20, 2026</vt:lpwstr>
  </property>
</Properties>
</file>