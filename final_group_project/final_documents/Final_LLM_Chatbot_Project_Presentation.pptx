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ns0:sld xmlns:ns0="http://schemas.openxmlformats.org/presentationml/2006/main" xmlns:ns1="http://schemas.openxmlformats.org/drawingml/2006/main">
  <ns0:cSld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2" name="Title 1"/>
          <ns0:cNvSpPr>
            <ns1:spLocks noGrp="1"/>
          </ns0:cNvSpPr>
          <ns0:nvPr>
            <ns0:ph type="ctrTitle"/>
          </ns0:nvPr>
        </ns0:nvSpPr>
        <ns0:spPr>
          <ns1:xfrm>
            <ns1:off x="685800" y="1597819"/>
            <ns1:ext cx="7772400" cy="1102519"/>
          </ns1:xfrm>
        </ns0:spPr>
        <ns0:txBody>
          <ns1:bodyPr/>
          <ns1:lstStyle/>
          <ns1:p>
            <ns1:pPr lvl="0" indent="0" marL="0">
              <ns1:buNone/>
            </ns1:pPr>
            <ns1:r>
              <ns1:rPr/>
              <ns1:t>Final LLM Chatbot Project</ns1:t>
            </ns1:r>
          </ns1:p>
        </ns0:txBody>
      </ns0:sp>
      <ns0:sp>
        <ns0:nvSpPr>
          <ns0:cNvPr id="3" name="Subtitle 2"/>
          <ns0:cNvSpPr>
            <ns1:spLocks noGrp="1"/>
          </ns0:cNvSpPr>
          <ns0:nvPr>
            <ns0:ph idx="1" type="subTitle"/>
          </ns0:nvPr>
        </ns0:nvSpPr>
        <ns0:spPr>
          <ns1:xfrm>
            <ns1:off x="1371600" y="2914650"/>
            <ns1:ext cx="6400800" cy="1314450"/>
          </ns1:xfrm>
        </ns0:spPr>
        <ns0:txBody>
          <ns1:bodyPr/>
          <ns1:lstStyle/>
          <ns1:p>
            <ns1:pPr lvl="0" indent="0" marL="0">
              <ns1:buNone/>
            </ns1:pPr>
            <ns1:br/>
            <ns1:br/>
            <ns1:r>
              <ns1:rPr/>
              <ns1:t>Design, Scope, Challenges, Learnings</ns1:t>
            </ns1:r>
          </ns1:p>
        </ns0:txBody>
      </ns0:sp>
      <ns0:sp>
        <ns0:nvSpPr>
          <ns0:cNvPr id="4" name="Date Placeholder 3"/>
          <ns0:cNvSpPr>
            <ns1:spLocks noGrp="1"/>
          </ns0:cNvSpPr>
          <ns0:nvPr>
            <ns0:ph idx="10" sz="half" type="dt"/>
          </ns0:nvPr>
        </ns0:nvSpPr>
        <ns0:spPr/>
        <ns0:txBody>
          <ns1:bodyPr/>
          <ns1:lstStyle/>
          <ns1:p>
            <ns1:pPr lvl="0" indent="0" marL="0">
              <ns1:buNone/>
            </ns1:pPr>
            <ns1:r>
              <ns1:rPr/>
              <ns1:t>February 20, 2026</ns1:t>
            </ns1:r>
          </ns1:p>
        </ns0:txBody>
      </ns0:sp>
    </ns0:spTree>
  </ns0:cSld>
</ns0:sld>
</file>

<file path=ppt/slides/slide2.xml><?xml version="1.0" encoding="utf-8"?>
<ns0:sld xmlns:ns0="http://schemas.openxmlformats.org/presentationml/2006/main" xmlns:ns1="http://schemas.openxmlformats.org/drawingml/2006/main">
  <ns0:cSld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2" name="Title 1"/>
          <ns0:cNvSpPr>
            <ns1:spLocks noGrp="1"/>
          </ns0:cNvSpPr>
          <ns0:nvPr>
            <ns0:ph type="title"/>
          </ns0:nvPr>
        </ns0:nvSpPr>
        <ns0:spPr/>
        <ns0:txBody>
          <ns1:bodyPr/>
          <ns1:lstStyle/>
          <ns1:p>
            <ns1:pPr lvl="0" indent="0" marL="0">
              <ns1:buNone/>
            </ns1:pPr>
            <ns1:r>
              <ns1:rPr/>
              <ns1:t>Problem Addressed</ns1:t>
            </ns1:r>
          </ns1:p>
        </ns0:txBody>
      </ns0:sp>
      <ns0:sp>
        <ns0:nvSpPr>
          <ns0:cNvPr id="3" name="Content Placeholder 2"/>
          <ns0:cNvSpPr>
            <ns1:spLocks noGrp="1"/>
          </ns0:cNvSpPr>
          <ns0:nvPr>
            <ns0:ph idx="1"/>
          </ns0:nvPr>
        </ns0:nvSpPr>
        <ns0:spPr/>
        <ns0:txBody>
          <ns1:bodyPr/>
          <ns1:lstStyle/>
          <ns1:p>
            <ns1:pPr lvl="0"/>
            <ns1:r>
              <ns1:rPr/>
              <ns1:t>General-purpose chatbots can sound fluent but still hallucinate.</ns1:t>
            </ns1:r>
          </ns1:p>
          <ns1:p>
            <ns1:pPr lvl="0"/>
            <ns1:r>
              <ns1:rPr/>
              <ns1:t>Academic/project users need grounded answers with transparent sources.</ns1:t>
            </ns1:r>
          </ns1:p>
          <ns1:p>
            <ns1:pPr lvl="0"/>
            <ns1:r>
              <ns1:rPr/>
              <ns1:t>The project targets a bilingual assistant: English input, Spanish-first output.</ns1:t>
            </ns1:r>
          </ns1:p>
        </ns0:txBody>
      </ns0:sp>
    </ns0:spTree>
  </ns0:cSld>
</ns0:sld>
</file>

<file path=ppt/slides/slide3.xml><?xml version="1.0" encoding="utf-8"?>
<ns0:sld xmlns:ns0="http://schemas.openxmlformats.org/presentationml/2006/main" xmlns:ns1="http://schemas.openxmlformats.org/drawingml/2006/main">
  <ns0:cSld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2" name="Title 1"/>
          <ns0:cNvSpPr>
            <ns1:spLocks noGrp="1"/>
          </ns0:cNvSpPr>
          <ns0:nvPr>
            <ns0:ph type="title"/>
          </ns0:nvPr>
        </ns0:nvSpPr>
        <ns0:spPr/>
        <ns0:txBody>
          <ns1:bodyPr/>
          <ns1:lstStyle/>
          <ns1:p>
            <ns1:pPr lvl="0" indent="0" marL="0">
              <ns1:buNone/>
            </ns1:pPr>
            <ns1:r>
              <ns1:rPr/>
              <ns1:t>Scope and Objectives</ns1:t>
            </ns1:r>
          </ns1:p>
        </ns0:txBody>
      </ns0:sp>
      <ns0:sp>
        <ns0:nvSpPr>
          <ns0:cNvPr id="3" name="Content Placeholder 2"/>
          <ns0:cNvSpPr>
            <ns1:spLocks noGrp="1"/>
          </ns0:cNvSpPr>
          <ns0:nvPr>
            <ns0:ph idx="1"/>
          </ns0:nvPr>
        </ns0:nvSpPr>
        <ns0:spPr/>
        <ns0:txBody>
          <ns1:bodyPr/>
          <ns1:lstStyle/>
          <ns1:p>
            <ns1:pPr lvl="0"/>
            <ns1:r>
              <ns1:rPr/>
              <ns1:t>Build a working chatbot with web UI + API backend.</ns1:t>
            </ns1:r>
          </ns1:p>
          <ns1:p>
            <ns1:pPr lvl="0"/>
            <ns1:r>
              <ns1:rPr/>
              <ns1:t>Route intelligently between grounded retrieval and general LLM response.</ns1:t>
            </ns1:r>
          </ns1:p>
          <ns1:p>
            <ns1:pPr lvl="0"/>
            <ns1:r>
              <ns1:rPr/>
              <ns1:t>Provide Spanish output with optional English for transparency.</ns1:t>
            </ns1:r>
          </ns1:p>
          <ns1:p>
            <ns1:pPr lvl="0"/>
            <ns1:r>
              <ns1:rPr/>
              <ns1:t>Support fallback responses when confidence is low.</ns1:t>
            </ns1:r>
          </ns1:p>
          <ns1:p>
            <ns1:pPr lvl="0"/>
            <ns1:r>
              <ns1:rPr/>
              <ns1:t>Keep architecture modular for future extension.</ns1:t>
            </ns1:r>
          </ns1:p>
        </ns0:txBody>
      </ns0:sp>
    </ns0:spTree>
  </ns0:cSld>
</ns0:sld>
</file>

<file path=ppt/slides/slide4.xml><?xml version="1.0" encoding="utf-8"?>
<ns0:sld xmlns:ns0="http://schemas.openxmlformats.org/presentationml/2006/main" xmlns:ns1="http://schemas.openxmlformats.org/drawingml/2006/main" xmlns:ns2="http://schemas.openxmlformats.org/officeDocument/2006/relationships">
  <ns0:cSld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2" name="Title 1"/>
          <ns0:cNvSpPr>
            <ns1:spLocks noGrp="1"/>
          </ns0:cNvSpPr>
          <ns0:nvPr>
            <ns0:ph type="title"/>
          </ns0:nvPr>
        </ns0:nvSpPr>
        <ns0:spPr>
          <ns1:xfrm>
            <ns1:off x="457201" y="204787"/>
            <ns1:ext cx="3008313" cy="871538"/>
          </ns1:xfrm>
        </ns0:spPr>
        <ns0:txBody>
          <ns1:bodyPr/>
          <ns1:lstStyle/>
          <ns1:p>
            <ns1:pPr lvl="0" indent="0" marL="0">
              <ns1:buNone/>
            </ns1:pPr>
            <ns1:r>
              <ns1:rPr/>
              <ns1:t>System Design</ns1:t>
            </ns1:r>
          </ns1:p>
        </ns0:txBody>
      </ns0:sp>
      <ns0:sp>
        <ns0:nvSpPr>
          <ns0:cNvPr id="4" name="Text Placeholder 3"/>
          <ns0:cNvSpPr>
            <ns1:spLocks noGrp="1"/>
          </ns0:cNvSpPr>
          <ns0:nvPr>
            <ns0:ph idx="2" sz="half" type="body"/>
          </ns0:nvPr>
        </ns0:nvSpPr>
        <ns0:spPr/>
        <ns0:txBody>
          <ns1:bodyPr/>
          <ns1:lstStyle/>
          <ns1:p>
            <ns1:pPr lvl="0"/>
            <ns1:r>
              <ns1:rPr/>
              <ns1:t>Frontend: React chat interface (message thread + loading state).</ns1:t>
            </ns1:r>
          </ns1:p>
          <ns1:p>
            <ns1:pPr lvl="0"/>
            <ns1:r>
              <ns1:rPr/>
              <ns1:t>Backend: FastAPI with MVC-style layers (controllers/services/repositories/models).</ns1:t>
            </ns1:r>
          </ns1:p>
          <ns1:p>
            <ns1:pPr lvl="0"/>
            <ns1:r>
              <ns1:rPr/>
              <ns1:t>Retrieval: SentenceTransformer (preferred) with TF-IDF fallback.</ns1:t>
            </ns1:r>
          </ns1:p>
          <ns1:p>
            <ns1:pPr lvl="0"/>
            <ns1:r>
              <ns1:rPr/>
              <ns1:t>Generation: Azure OpenAI for RAG completion, general QA, and translation when configured.</ns1:t>
            </ns1:r>
          </ns1:p>
        </ns0:txBody>
      </ns0:sp>
      <ns0:pic>
        <ns0:nvPicPr>
          <ns0:cNvPr descr="assets/screenshot_architecture.png" id="0" name="Picture 1"/>
          <ns0:cNvPicPr>
            <ns1:picLocks noGrp="1" noChangeAspect="1"/>
          </ns0:cNvPicPr>
          <ns0:nvPr/>
        </ns0:nvPicPr>
        <ns0:blipFill>
          <ns1:blip ns2:embed="rId2"/>
          <ns1:stretch>
            <ns1:fillRect/>
          </ns1:stretch>
        </ns0:blipFill>
        <ns0:spPr bwMode="auto">
          <ns1:xfrm>
            <ns1:off x="3568700" y="698500"/>
            <ns1:ext cx="5105400" cy="2870200"/>
          </ns1:xfrm>
          <ns1:prstGeom prst="rect">
            <ns1:avLst/>
          </ns1:prstGeom>
          <ns1:noFill/>
          <ns1:ln w="9525">
            <ns1:noFill/>
            <ns1:headEnd/>
            <ns1:tailEnd/>
          </ns1:ln>
        </ns0:spPr>
      </ns0:pic>
      <ns0:sp>
        <ns0:nvSpPr>
          <ns0:cNvPr id="1" name="TextBox 3"/>
          <ns0:cNvSpPr txBox="1"/>
          <ns0:nvPr/>
        </ns0:nvSpPr>
        <ns0:spPr>
          <ns1:xfrm>
            <ns1:off x="3568700" y="4076700"/>
            <ns1:ext cx="5105400" cy="508000"/>
          </ns1:xfrm>
          <ns1:prstGeom prst="rect">
            <ns1:avLst/>
          </ns1:prstGeom>
          <ns1:noFill/>
        </ns0:spPr>
        <ns0:txBody>
          <ns1:bodyPr/>
          <ns1:lstStyle/>
          <ns1:p>
            <ns1:pPr lvl="0" indent="0" marL="0" algn="ctr">
              <ns1:buNone/>
            </ns1:pPr>
            <ns1:r>
              <ns1:rPr/>
              <ns1:t>Architecture</ns1:t>
            </ns1:r>
          </ns1:p>
        </ns0:txBody>
      </ns0:sp>
    </ns0:spTree>
  </ns0:cSld>
</ns0:sld>
</file>

<file path=ppt/slides/slide5.xml><?xml version="1.0" encoding="utf-8"?>
<ns0:sld xmlns:ns0="http://schemas.openxmlformats.org/presentationml/2006/main" xmlns:ns1="http://schemas.openxmlformats.org/drawingml/2006/main" xmlns:ns2="http://schemas.openxmlformats.org/officeDocument/2006/relationships">
  <ns0:cSld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2" name="Title 1"/>
          <ns0:cNvSpPr>
            <ns1:spLocks noGrp="1"/>
          </ns0:cNvSpPr>
          <ns0:nvPr>
            <ns0:ph type="title"/>
          </ns0:nvPr>
        </ns0:nvSpPr>
        <ns0:spPr>
          <ns1:xfrm>
            <ns1:off x="457201" y="204787"/>
            <ns1:ext cx="3008313" cy="871538"/>
          </ns1:xfrm>
        </ns0:spPr>
        <ns0:txBody>
          <ns1:bodyPr/>
          <ns1:lstStyle/>
          <ns1:p>
            <ns1:pPr lvl="0" indent="0" marL="0">
              <ns1:buNone/>
            </ns1:pPr>
            <ns1:r>
              <ns1:rPr/>
              <ns1:t>App Screenshot: Chat Experience</ns1:t>
            </ns1:r>
          </ns1:p>
        </ns0:txBody>
      </ns0:sp>
      <ns0:sp>
        <ns0:nvSpPr>
          <ns0:cNvPr id="4" name="Text Placeholder 3"/>
          <ns0:cNvSpPr>
            <ns1:spLocks noGrp="1"/>
          </ns0:cNvSpPr>
          <ns0:nvPr>
            <ns0:ph idx="2" sz="half" type="body"/>
          </ns0:nvPr>
        </ns0:nvSpPr>
        <ns0:spPr/>
        <ns0:txBody>
          <ns1:bodyPr/>
          <ns1:lstStyle/>
          <ns1:p>
            <ns1:pPr lvl="0"/>
            <ns1:r>
              <ns1:rPr/>
              <ns1:t>Sequential conversation flow in a messaging layout.</ns1:t>
            </ns1:r>
          </ns1:p>
          <ns1:p>
            <ns1:pPr lvl="0"/>
            <ns1:r>
              <ns1:rPr/>
              <ns1:t>User prompt + assistant bilingual response.</ns1:t>
            </ns1:r>
          </ns1:p>
          <ns1:p>
            <ns1:pPr lvl="0"/>
            <ns1:r>
              <ns1:rPr/>
              <ns1:t>Include-English toggle for response transparency.</ns1:t>
            </ns1:r>
          </ns1:p>
        </ns0:txBody>
      </ns0:sp>
      <ns0:pic>
        <ns0:nvPicPr>
          <ns0:cNvPr descr="assets/screenshot_chat_ui.png" id="0" name="Picture 1"/>
          <ns0:cNvPicPr>
            <ns1:picLocks noGrp="1" noChangeAspect="1"/>
          </ns0:cNvPicPr>
          <ns0:nvPr/>
        </ns0:nvPicPr>
        <ns0:blipFill>
          <ns1:blip ns2:embed="rId2"/>
          <ns1:stretch>
            <ns1:fillRect/>
          </ns1:stretch>
        </ns0:blipFill>
        <ns0:spPr bwMode="auto">
          <ns1:xfrm>
            <ns1:off x="3568700" y="698500"/>
            <ns1:ext cx="5105400" cy="2870200"/>
          </ns1:xfrm>
          <ns1:prstGeom prst="rect">
            <ns1:avLst/>
          </ns1:prstGeom>
          <ns1:noFill/>
          <ns1:ln w="9525">
            <ns1:noFill/>
            <ns1:headEnd/>
            <ns1:tailEnd/>
          </ns1:ln>
        </ns0:spPr>
      </ns0:pic>
      <ns0:sp>
        <ns0:nvSpPr>
          <ns0:cNvPr id="1" name="TextBox 3"/>
          <ns0:cNvSpPr txBox="1"/>
          <ns0:nvPr/>
        </ns0:nvSpPr>
        <ns0:spPr>
          <ns1:xfrm>
            <ns1:off x="3568700" y="4076700"/>
            <ns1:ext cx="5105400" cy="508000"/>
          </ns1:xfrm>
          <ns1:prstGeom prst="rect">
            <ns1:avLst/>
          </ns1:prstGeom>
          <ns1:noFill/>
        </ns0:spPr>
        <ns0:txBody>
          <ns1:bodyPr/>
          <ns1:lstStyle/>
          <ns1:p>
            <ns1:pPr lvl="0" indent="0" marL="0" algn="ctr">
              <ns1:buNone/>
            </ns1:pPr>
            <ns1:r>
              <ns1:rPr/>
              <ns1:t>Chat UI</ns1:t>
            </ns1:r>
          </ns1:p>
        </ns0:txBody>
      </ns0:sp>
    </ns0:spTree>
  </ns0:cSld>
</ns0:sld>
</file>

<file path=ppt/slides/slide6.xml><?xml version="1.0" encoding="utf-8"?>
<ns0:sld xmlns:ns0="http://schemas.openxmlformats.org/presentationml/2006/main" xmlns:ns1="http://schemas.openxmlformats.org/drawingml/2006/main" xmlns:ns2="http://schemas.openxmlformats.org/officeDocument/2006/relationships">
  <ns0:cSld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2" name="Title 1"/>
          <ns0:cNvSpPr>
            <ns1:spLocks noGrp="1"/>
          </ns0:cNvSpPr>
          <ns0:nvPr>
            <ns0:ph type="title"/>
          </ns0:nvPr>
        </ns0:nvSpPr>
        <ns0:spPr>
          <ns1:xfrm>
            <ns1:off x="457201" y="204787"/>
            <ns1:ext cx="3008313" cy="871538"/>
          </ns1:xfrm>
        </ns0:spPr>
        <ns0:txBody>
          <ns1:bodyPr/>
          <ns1:lstStyle/>
          <ns1:p>
            <ns1:pPr lvl="0" indent="0" marL="0">
              <ns1:buNone/>
            </ns1:pPr>
            <ns1:r>
              <ns1:rPr/>
              <ns1:t>App Screenshot: Response Payload</ns1:t>
            </ns1:r>
          </ns1:p>
        </ns0:txBody>
      </ns0:sp>
      <ns0:sp>
        <ns0:nvSpPr>
          <ns0:cNvPr id="4" name="Text Placeholder 3"/>
          <ns0:cNvSpPr>
            <ns1:spLocks noGrp="1"/>
          </ns0:cNvSpPr>
          <ns0:nvPr>
            <ns0:ph idx="2" sz="half" type="body"/>
          </ns0:nvPr>
        </ns0:nvSpPr>
        <ns0:spPr/>
        <ns0:txBody>
          <ns1:bodyPr/>
          <ns1:lstStyle/>
          <ns1:p>
            <ns1:pPr lvl="0"/>
            <ns1:r>
              <ns1:rPr/>
              <ns1:t>API route: </ns1:t>
            </ns1:r>
            <ns1:r>
              <ns1:rPr>
                <ns1:latin typeface="Courier"/>
              </ns1:rPr>
              <ns1:t>POST /api/translate</ns1:t>
            </ns1:r>
          </ns1:p>
          <ns1:p>
            <ns1:pPr lvl="0"/>
            <ns1:r>
              <ns1:rPr/>
              <ns1:t>Request: </ns1:t>
            </ns1:r>
            <ns1:r>
              <ns1:rPr>
                <ns1:latin typeface="Courier"/>
              </ns1:rPr>
              <ns1:t>{ text, include_english }</ns1:t>
            </ns1:r>
          </ns1:p>
          <ns1:p>
            <ns1:pPr lvl="0"/>
            <ns1:r>
              <ns1:rPr/>
              <ns1:t>Response: </ns1:t>
            </ns1:r>
            <ns1:r>
              <ns1:rPr>
                <ns1:latin typeface="Courier"/>
              </ns1:rPr>
              <ns1:t>{ spanish, english }</ns1:t>
            </ns1:r>
            <ns1:r>
              <ns1:rPr/>
              <ns1:t> (english optional)</ns1:t>
            </ns1:r>
          </ns1:p>
        </ns0:txBody>
      </ns0:sp>
      <ns0:pic>
        <ns0:nvPicPr>
          <ns0:cNvPr descr="assets/screenshot_api_response.png" id="0" name="Picture 1"/>
          <ns0:cNvPicPr>
            <ns1:picLocks noGrp="1" noChangeAspect="1"/>
          </ns0:cNvPicPr>
          <ns0:nvPr/>
        </ns0:nvPicPr>
        <ns0:blipFill>
          <ns1:blip ns2:embed="rId2"/>
          <ns1:stretch>
            <ns1:fillRect/>
          </ns1:stretch>
        </ns0:blipFill>
        <ns0:spPr bwMode="auto">
          <ns1:xfrm>
            <ns1:off x="3568700" y="698500"/>
            <ns1:ext cx="5105400" cy="2870200"/>
          </ns1:xfrm>
          <ns1:prstGeom prst="rect">
            <ns1:avLst/>
          </ns1:prstGeom>
          <ns1:noFill/>
          <ns1:ln w="9525">
            <ns1:noFill/>
            <ns1:headEnd/>
            <ns1:tailEnd/>
          </ns1:ln>
        </ns0:spPr>
      </ns0:pic>
      <ns0:sp>
        <ns0:nvSpPr>
          <ns0:cNvPr id="1" name="TextBox 3"/>
          <ns0:cNvSpPr txBox="1"/>
          <ns0:nvPr/>
        </ns0:nvSpPr>
        <ns0:spPr>
          <ns1:xfrm>
            <ns1:off x="3568700" y="4076700"/>
            <ns1:ext cx="5105400" cy="508000"/>
          </ns1:xfrm>
          <ns1:prstGeom prst="rect">
            <ns1:avLst/>
          </ns1:prstGeom>
          <ns1:noFill/>
        </ns0:spPr>
        <ns0:txBody>
          <ns1:bodyPr/>
          <ns1:lstStyle/>
          <ns1:p>
            <ns1:pPr lvl="0" indent="0" marL="0" algn="ctr">
              <ns1:buNone/>
            </ns1:pPr>
            <ns1:r>
              <ns1:rPr/>
              <ns1:t>API Response</ns1:t>
            </ns1:r>
          </ns1:p>
        </ns0:txBody>
      </ns0:sp>
    </ns0:spTree>
  </ns0:cSld>
</ns0:sld>
</file>

<file path=ppt/slides/slide7.xml><?xml version="1.0" encoding="utf-8"?>
<ns0:sld xmlns:ns0="http://schemas.openxmlformats.org/presentationml/2006/main" xmlns:ns1="http://schemas.openxmlformats.org/drawingml/2006/main">
  <ns0:cSld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2" name="Title 1"/>
          <ns0:cNvSpPr>
            <ns1:spLocks noGrp="1"/>
          </ns0:cNvSpPr>
          <ns0:nvPr>
            <ns0:ph type="title"/>
          </ns0:nvPr>
        </ns0:nvSpPr>
        <ns0:spPr/>
        <ns0:txBody>
          <ns1:bodyPr/>
          <ns1:lstStyle/>
          <ns1:p>
            <ns1:pPr lvl="0" indent="0" marL="0">
              <ns1:buNone/>
            </ns1:pPr>
            <ns1:r>
              <ns1:rPr/>
              <ns1:t>Approach from Proposal to Build</ns1:t>
            </ns1:r>
          </ns1:p>
        </ns0:txBody>
      </ns0:sp>
      <ns0:sp>
        <ns0:nvSpPr>
          <ns0:cNvPr id="3" name="Content Placeholder 2"/>
          <ns0:cNvSpPr>
            <ns1:spLocks noGrp="1"/>
          </ns0:cNvSpPr>
          <ns0:nvPr>
            <ns0:ph idx="1"/>
          </ns0:nvPr>
        </ns0:nvSpPr>
        <ns0:spPr/>
        <ns0:txBody>
          <ns1:bodyPr/>
          <ns1:lstStyle/>
          <ns1:p>
            <ns1:pPr lvl="0"/>
            <ns1:r>
              <ns1:rPr/>
              <ns1:t>Proposal goal: RAG-based bilingual assistant with citations.</ns1:t>
            </ns1:r>
          </ns1:p>
          <ns1:p>
            <ns1:pPr lvl="0"/>
            <ns1:r>
              <ns1:rPr/>
              <ns1:t>Implemented practical hybrid strategy:</ns1:t>
            </ns1:r>
          </ns1:p>
          <ns1:p>
            <ns1:pPr lvl="1"/>
            <ns1:r>
              <ns1:rPr/>
              <ns1:t>Rule-based first</ns1:t>
            </ns1:r>
          </ns1:p>
          <ns1:p>
            <ns1:pPr lvl="1"/>
            <ns1:r>
              <ns1:rPr/>
              <ns1:t>Retrieval relevance check second</ns1:t>
            </ns1:r>
          </ns1:p>
          <ns1:p>
            <ns1:pPr lvl="1"/>
            <ns1:r>
              <ns1:rPr/>
              <ns1:t>RAG path for in-domain queries; general LLM path for out-of-domain queries</ns1:t>
            </ns1:r>
          </ns1:p>
          <ns1:p>
            <ns1:pPr lvl="0"/>
            <ns1:r>
              <ns1:rPr/>
              <ns1:t>Reason: better reliability, lower cost/latency, graceful degradation.</ns1:t>
            </ns1:r>
          </ns1:p>
        </ns0:txBody>
      </ns0:sp>
    </ns0:spTree>
  </ns0:cSld>
</ns0:sld>
</file>

<file path=ppt/slides/slide8.xml><?xml version="1.0" encoding="utf-8"?>
<ns0:sld xmlns:ns0="http://schemas.openxmlformats.org/presentationml/2006/main" xmlns:ns1="http://schemas.openxmlformats.org/drawingml/2006/main">
  <ns0:cSld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2" name="Title 1"/>
          <ns0:cNvSpPr>
            <ns1:spLocks noGrp="1"/>
          </ns0:cNvSpPr>
          <ns0:nvPr>
            <ns0:ph type="title"/>
          </ns0:nvPr>
        </ns0:nvSpPr>
        <ns0:spPr/>
        <ns0:txBody>
          <ns1:bodyPr/>
          <ns1:lstStyle/>
          <ns1:p>
            <ns1:pPr lvl="0" indent="0" marL="0">
              <ns1:buNone/>
            </ns1:pPr>
            <ns1:r>
              <ns1:rPr/>
              <ns1:t>Challenges Encountered</ns1:t>
            </ns1:r>
          </ns1:p>
        </ns0:txBody>
      </ns0:sp>
      <ns0:sp>
        <ns0:nvSpPr>
          <ns0:cNvPr id="3" name="Content Placeholder 2"/>
          <ns0:cNvSpPr>
            <ns1:spLocks noGrp="1"/>
          </ns0:cNvSpPr>
          <ns0:nvPr>
            <ns0:ph idx="1"/>
          </ns0:nvPr>
        </ns0:nvSpPr>
        <ns0:spPr/>
        <ns0:txBody>
          <ns1:bodyPr/>
          <ns1:lstStyle/>
          <ns1:p>
            <ns1:pPr lvl="0"/>
            <ns1:r>
              <ns1:rPr/>
              <ns1:t>Environment/dependency availability varied by runtime.</ns1:t>
            </ns1:r>
          </ns1:p>
          <ns1:p>
            <ns1:pPr lvl="0"/>
            <ns1:r>
              <ns1:rPr/>
              <ns1:t>Retrieval tuning required trial-and-error (chunk size, similarity thresholds).</ns1:t>
            </ns1:r>
          </ns1:p>
          <ns1:p>
            <ns1:pPr lvl="0"/>
            <ns1:r>
              <ns1:rPr/>
              <ns1:t>Maintaining concise bilingual quality required prompt calibration.</ns1:t>
            </ns1:r>
          </ns1:p>
          <ns1:p>
            <ns1:pPr lvl="0"/>
            <ns1:r>
              <ns1:rPr/>
              <ns1:t>Coverage limitations in knowledge base can still produce uncertainty.</ns1:t>
            </ns1:r>
          </ns1:p>
        </ns0:txBody>
      </ns0:sp>
    </ns0:spTree>
  </ns0:cSld>
</ns0:sld>
</file>

<file path=ppt/slides/slide9.xml><?xml version="1.0" encoding="utf-8"?>
<ns0:sld xmlns:ns0="http://schemas.openxmlformats.org/presentationml/2006/main" xmlns:ns1="http://schemas.openxmlformats.org/drawingml/2006/main">
  <ns0:cSld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2" name="Title 1"/>
          <ns0:cNvSpPr>
            <ns1:spLocks noGrp="1"/>
          </ns0:cNvSpPr>
          <ns0:nvPr>
            <ns0:ph type="title"/>
          </ns0:nvPr>
        </ns0:nvSpPr>
        <ns0:spPr/>
        <ns0:txBody>
          <ns1:bodyPr/>
          <ns1:lstStyle/>
          <ns1:p>
            <ns1:pPr lvl="0" indent="0" marL="0">
              <ns1:buNone/>
            </ns1:pPr>
            <ns1:r>
              <ns1:rPr/>
              <ns1:t>Key Learnings</ns1:t>
            </ns1:r>
          </ns1:p>
        </ns0:txBody>
      </ns0:sp>
      <ns0:sp>
        <ns0:nvSpPr>
          <ns0:cNvPr id="3" name="Content Placeholder 2"/>
          <ns0:cNvSpPr>
            <ns1:spLocks noGrp="1"/>
          </ns0:cNvSpPr>
          <ns0:nvPr>
            <ns0:ph idx="1"/>
          </ns0:nvPr>
        </ns0:nvSpPr>
        <ns0:spPr/>
        <ns0:txBody>
          <ns1:bodyPr/>
          <ns1:lstStyle/>
          <ns1:p>
            <ns1:pPr lvl="0"/>
            <ns1:r>
              <ns1:rPr/>
              <ns1:t>Hybrid architecture outperforms pure-LLM in reliability for scoped domains.</ns1:t>
            </ns1:r>
          </ns1:p>
          <ns1:p>
            <ns1:pPr lvl="0"/>
            <ns1:r>
              <ns1:rPr/>
              <ns1:t>Clean layer separation improves maintainability and debugging speed.</ns1:t>
            </ns1:r>
          </ns1:p>
          <ns1:p>
            <ns1:pPr lvl="0"/>
            <ns1:r>
              <ns1:rPr/>
              <ns1:t>RAG quality depends heavily on data chunking and retrieval thresholds.</ns1:t>
            </ns1:r>
          </ns1:p>
          <ns1:p>
            <ns1:pPr lvl="0"/>
            <ns1:r>
              <ns1:rPr/>
              <ns1:t>Fallback behavior is critical for user trust.</ns1:t>
            </ns1:r>
          </ns1:p>
        </ns0:txBody>
      </ns0:sp>
    </ns0:spTree>
  </ns0:cSld>
</ns0:sld>
</file>

<file path=ppt/slides/slide10.xml><?xml version="1.0" encoding="utf-8"?>
<ns0:sld xmlns:ns0="http://schemas.openxmlformats.org/presentationml/2006/main" xmlns:ns1="http://schemas.openxmlformats.org/drawingml/2006/main">
  <ns0:cSld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2" name="Title 1"/>
          <ns0:cNvSpPr>
            <ns1:spLocks noGrp="1"/>
          </ns0:cNvSpPr>
          <ns0:nvPr>
            <ns0:ph type="title"/>
          </ns0:nvPr>
        </ns0:nvSpPr>
        <ns0:spPr/>
        <ns0:txBody>
          <ns1:bodyPr/>
          <ns1:lstStyle/>
          <ns1:p>
            <ns1:pPr lvl="0" indent="0" marL="0">
              <ns1:buNone/>
            </ns1:pPr>
            <ns1:r>
              <ns1:rPr/>
              <ns1:t>Conclusion and Next Steps</ns1:t>
            </ns1:r>
          </ns1:p>
        </ns0:txBody>
      </ns0:sp>
      <ns0:sp>
        <ns0:nvSpPr>
          <ns0:cNvPr id="3" name="Content Placeholder 2"/>
          <ns0:cNvSpPr>
            <ns1:spLocks noGrp="1"/>
          </ns0:cNvSpPr>
          <ns0:nvPr>
            <ns0:ph idx="1"/>
          </ns0:nvPr>
        </ns0:nvSpPr>
        <ns0:spPr/>
        <ns0:txBody>
          <ns1:bodyPr/>
          <ns1:lstStyle/>
          <ns1:p>
            <ns1:pPr lvl="0"/>
            <ns1:r>
              <ns1:rPr/>
              <ns1:t>Final chatbot now supports both grounded RAG answers and general LLM Q&amp;A.</ns1:t>
            </ns1:r>
          </ns1:p>
          <ns1:p>
            <ns1:pPr lvl="0"/>
            <ns1:r>
              <ns1:rPr/>
              <ns1:t>Future upgrades:</ns1:t>
            </ns1:r>
          </ns1:p>
          <ns1:p>
            <ns1:pPr lvl="1"/>
            <ns1:r>
              <ns1:rPr/>
              <ns1:t>Session memory for multi-turn continuity</ns1:t>
            </ns1:r>
          </ns1:p>
          <ns1:p>
            <ns1:pPr lvl="1"/>
            <ns1:r>
              <ns1:rPr/>
              <ns1:t>Better observability and evaluation metrics</ns1:t>
            </ns1:r>
          </ns1:p>
          <ns1:p>
            <ns1:pPr lvl="1"/>
            <ns1:r>
              <ns1:rPr/>
              <ns1:t>Expanded multilingual and guardrail support</ns1:t>
            </ns1:r>
          </ns1:p>
        </ns0:txBody>
      </ns0:sp>
    </ns0:spTree>
  </ns0:cSld>
</ns0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Final LLM Chatbot Project</dc:title>
  <dc:creator>Design, Scope, Challenges, Learnings</dc:creator>
  <cp:keywords/>
  <dcterms:created xsi:type="dcterms:W3CDTF">2026-02-20T02:20:14Z</dcterms:created>
  <dcterms:modified xsi:type="dcterms:W3CDTF">2026-02-20T02:20:14Z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February 20, 2026</vt:lpwstr>
  </property>
</Properties>
</file>